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8" r:id="rId1"/>
  </p:sldMasterIdLst>
  <p:notesMasterIdLst>
    <p:notesMasterId r:id="rId15"/>
  </p:notesMasterIdLst>
  <p:sldIdLst>
    <p:sldId id="256" r:id="rId2"/>
    <p:sldId id="257" r:id="rId3"/>
    <p:sldId id="272" r:id="rId4"/>
    <p:sldId id="273" r:id="rId5"/>
    <p:sldId id="277" r:id="rId6"/>
    <p:sldId id="278" r:id="rId7"/>
    <p:sldId id="279" r:id="rId8"/>
    <p:sldId id="280" r:id="rId9"/>
    <p:sldId id="281" r:id="rId10"/>
    <p:sldId id="284" r:id="rId11"/>
    <p:sldId id="264" r:id="rId12"/>
    <p:sldId id="28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7"/>
    <p:restoredTop sz="94658"/>
  </p:normalViewPr>
  <p:slideViewPr>
    <p:cSldViewPr snapToGrid="0">
      <p:cViewPr varScale="1">
        <p:scale>
          <a:sx n="87" d="100"/>
          <a:sy n="87" d="100"/>
        </p:scale>
        <p:origin x="3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4711E-C3FA-441C-9148-35EEAD8BD447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896D1-394B-43F7-AD03-0681A9123D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45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896D1-394B-43F7-AD03-0681A9123D9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451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2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53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40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5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5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6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68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75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36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92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25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lassrooms.com/fr/paths/1047/projects/315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04AA77-72D2-17CB-DA51-15902F0A0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sz="6000" dirty="0">
                <a:hlinkClick r:id="rId2"/>
              </a:rPr>
              <a:t>Labellisez et appliquez des approches semi-supervisées en traitement d'images</a:t>
            </a:r>
            <a:endParaRPr lang="fr-FR" sz="6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653C6A-101E-8DA1-272C-1667702A3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fr-FR" dirty="0"/>
              <a:t>E. Houdin juillet 2026</a:t>
            </a:r>
          </a:p>
        </p:txBody>
      </p:sp>
    </p:spTree>
    <p:extLst>
      <p:ext uri="{BB962C8B-B14F-4D97-AF65-F5344CB8AC3E}">
        <p14:creationId xmlns:p14="http://schemas.microsoft.com/office/powerpoint/2010/main" val="209768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CBFE4-B66B-DD56-47A9-A2CC3BD3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37883"/>
            <a:ext cx="10482788" cy="1116106"/>
          </a:xfrm>
        </p:spPr>
        <p:txBody>
          <a:bodyPr>
            <a:normAutofit/>
          </a:bodyPr>
          <a:lstStyle/>
          <a:p>
            <a:r>
              <a:rPr lang="fr-FR" dirty="0"/>
              <a:t>Objectif et organisation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262285A-68C4-50DF-3529-BCDCA0FDA027}"/>
              </a:ext>
            </a:extLst>
          </p:cNvPr>
          <p:cNvSpPr txBox="1"/>
          <p:nvPr/>
        </p:nvSpPr>
        <p:spPr>
          <a:xfrm>
            <a:off x="773513" y="2246995"/>
            <a:ext cx="103547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1- Explorer les images (IRM cérébrales) et extraire des caractéristiques visuelles via un modèle pré-entraîné ;</a:t>
            </a:r>
          </a:p>
          <a:p>
            <a:endParaRPr lang="fr-FR" dirty="0"/>
          </a:p>
          <a:p>
            <a:r>
              <a:rPr lang="fr-FR" dirty="0"/>
              <a:t>2- Appliquer des méthodes de clustering pour identifier des structures ou regroupements dans les données ;</a:t>
            </a:r>
          </a:p>
          <a:p>
            <a:endParaRPr lang="fr-FR" dirty="0"/>
          </a:p>
          <a:p>
            <a:r>
              <a:rPr lang="fr-FR" dirty="0"/>
              <a:t>3- Mettre en œuvre une méthode d’apprentissage semi-supervisé à partir des quelques étiquettes disponibles ;</a:t>
            </a:r>
          </a:p>
          <a:p>
            <a:endParaRPr lang="fr-FR" dirty="0"/>
          </a:p>
          <a:p>
            <a:r>
              <a:rPr lang="fr-FR" dirty="0"/>
              <a:t>4- Synthétiser vos résultats, formuler des recommandations, et les présenter à votre équipe projet.</a:t>
            </a:r>
          </a:p>
        </p:txBody>
      </p:sp>
    </p:spTree>
    <p:extLst>
      <p:ext uri="{BB962C8B-B14F-4D97-AF65-F5344CB8AC3E}">
        <p14:creationId xmlns:p14="http://schemas.microsoft.com/office/powerpoint/2010/main" val="175396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CBE88C-EE60-D782-6ED6-3B40923B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1- Explorer les images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68419C-4DD5-CF8B-446B-7E574E5B0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022092"/>
          </a:xfrm>
        </p:spPr>
        <p:txBody>
          <a:bodyPr>
            <a:normAutofit/>
          </a:bodyPr>
          <a:lstStyle/>
          <a:p>
            <a:r>
              <a:rPr lang="fr-FR" dirty="0"/>
              <a:t>100 images labellisées (50 images de cerveaux normaux et 50 de cerveaux avec cancer) et 108 images non labellisées mais triées par vue</a:t>
            </a:r>
          </a:p>
          <a:p>
            <a:r>
              <a:rPr lang="fr-FR" dirty="0"/>
              <a:t>1298 images non-labellisées</a:t>
            </a:r>
          </a:p>
          <a:p>
            <a:r>
              <a:rPr lang="fr-FR" dirty="0"/>
              <a:t>4 profiles : haut, arrière, gauche, droite</a:t>
            </a:r>
          </a:p>
          <a:p>
            <a:r>
              <a:rPr lang="fr-FR" dirty="0"/>
              <a:t>Format : 512 * 512 en monochrome 3 canaux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E03AF7-6BDB-101F-6632-46083D72C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46" y="4457315"/>
            <a:ext cx="10219306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5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ACB9A-255C-7836-E2D1-C9E95233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1- Extraire des caractéristiques visuelles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6AAE04-6895-2CB9-40F0-41782585A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Analyse labels et vues</a:t>
            </a:r>
          </a:p>
          <a:p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78963F83-29C0-767C-1D6F-281EE5B24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63882"/>
              </p:ext>
            </p:extLst>
          </p:nvPr>
        </p:nvGraphicFramePr>
        <p:xfrm>
          <a:off x="1063752" y="3357359"/>
          <a:ext cx="390390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01">
                  <a:extLst>
                    <a:ext uri="{9D8B030D-6E8A-4147-A177-3AD203B41FA5}">
                      <a16:colId xmlns:a16="http://schemas.microsoft.com/office/drawing/2014/main" val="1391642668"/>
                    </a:ext>
                  </a:extLst>
                </a:gridCol>
                <a:gridCol w="1301301">
                  <a:extLst>
                    <a:ext uri="{9D8B030D-6E8A-4147-A177-3AD203B41FA5}">
                      <a16:colId xmlns:a16="http://schemas.microsoft.com/office/drawing/2014/main" val="2876680798"/>
                    </a:ext>
                  </a:extLst>
                </a:gridCol>
                <a:gridCol w="1301301">
                  <a:extLst>
                    <a:ext uri="{9D8B030D-6E8A-4147-A177-3AD203B41FA5}">
                      <a16:colId xmlns:a16="http://schemas.microsoft.com/office/drawing/2014/main" val="2499445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Label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Cancer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704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729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Left side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277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Right side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209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0113384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633A9581-AEAC-1E8D-757E-F569A1CB3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224" y="1670089"/>
            <a:ext cx="6530906" cy="49534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78E3583-4370-00CC-9F5C-B73D8CA17880}"/>
              </a:ext>
            </a:extLst>
          </p:cNvPr>
          <p:cNvSpPr/>
          <p:nvPr/>
        </p:nvSpPr>
        <p:spPr>
          <a:xfrm>
            <a:off x="3780692" y="4844562"/>
            <a:ext cx="1063869" cy="41324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159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5D6033-8950-0A76-EB48-EB1B797D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2- Extraction des </a:t>
            </a:r>
            <a:r>
              <a:rPr lang="fr-FR" dirty="0" err="1"/>
              <a:t>embeddings</a:t>
            </a:r>
            <a:r>
              <a:rPr lang="fr-FR" dirty="0"/>
              <a:t> des images labellisées avec REsNet50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06FBF7-3EEF-8421-2682-9620251A3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050792"/>
          </a:xfrm>
        </p:spPr>
        <p:txBody>
          <a:bodyPr/>
          <a:lstStyle/>
          <a:p>
            <a:r>
              <a:rPr lang="fr-FR" dirty="0"/>
              <a:t>Utilisation de ResNet50 en extracteur</a:t>
            </a:r>
          </a:p>
          <a:p>
            <a:r>
              <a:rPr lang="fr-FR" dirty="0" err="1"/>
              <a:t>Scoring</a:t>
            </a:r>
            <a:r>
              <a:rPr lang="fr-FR" dirty="0"/>
              <a:t> du nombre de couches (Régression logistique avec calcul du F1 score + </a:t>
            </a:r>
            <a:r>
              <a:rPr lang="fr-FR" dirty="0" err="1"/>
              <a:t>class_weight</a:t>
            </a:r>
            <a:r>
              <a:rPr lang="fr-FR" dirty="0"/>
              <a:t>=« </a:t>
            </a:r>
            <a:r>
              <a:rPr lang="fr-FR" dirty="0" err="1"/>
              <a:t>balanced</a:t>
            </a:r>
            <a:r>
              <a:rPr lang="fr-FR" dirty="0"/>
              <a:t> »   + </a:t>
            </a:r>
            <a:r>
              <a:rPr lang="fr-FR" dirty="0" err="1"/>
              <a:t>StratifiedKFold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E329419-9A21-C775-839B-0E9E67426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71677"/>
              </p:ext>
            </p:extLst>
          </p:nvPr>
        </p:nvGraphicFramePr>
        <p:xfrm>
          <a:off x="2427654" y="3709051"/>
          <a:ext cx="60129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316">
                  <a:extLst>
                    <a:ext uri="{9D8B030D-6E8A-4147-A177-3AD203B41FA5}">
                      <a16:colId xmlns:a16="http://schemas.microsoft.com/office/drawing/2014/main" val="3277132291"/>
                    </a:ext>
                  </a:extLst>
                </a:gridCol>
                <a:gridCol w="2145323">
                  <a:extLst>
                    <a:ext uri="{9D8B030D-6E8A-4147-A177-3AD203B41FA5}">
                      <a16:colId xmlns:a16="http://schemas.microsoft.com/office/drawing/2014/main" val="4076445612"/>
                    </a:ext>
                  </a:extLst>
                </a:gridCol>
                <a:gridCol w="2145323">
                  <a:extLst>
                    <a:ext uri="{9D8B030D-6E8A-4147-A177-3AD203B41FA5}">
                      <a16:colId xmlns:a16="http://schemas.microsoft.com/office/drawing/2014/main" val="168100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mean_f1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std_f1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6079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layer3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0.937778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0.081225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7285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layer2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0.937374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0.051663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600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layer4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0.835873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0.131029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6915765"/>
                  </a:ext>
                </a:extLst>
              </a:tr>
            </a:tbl>
          </a:graphicData>
        </a:graphic>
      </p:graphicFrame>
      <p:sp>
        <p:nvSpPr>
          <p:cNvPr id="9" name="Ellipse 8">
            <a:extLst>
              <a:ext uri="{FF2B5EF4-FFF2-40B4-BE49-F238E27FC236}">
                <a16:creationId xmlns:a16="http://schemas.microsoft.com/office/drawing/2014/main" id="{B311CCF1-F876-C894-2000-E14B59DBDA8E}"/>
              </a:ext>
            </a:extLst>
          </p:cNvPr>
          <p:cNvSpPr/>
          <p:nvPr/>
        </p:nvSpPr>
        <p:spPr>
          <a:xfrm>
            <a:off x="2743200" y="4094051"/>
            <a:ext cx="1063869" cy="41324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B0D51B87-E84C-DBE1-9833-D5460A237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198920"/>
              </p:ext>
            </p:extLst>
          </p:nvPr>
        </p:nvGraphicFramePr>
        <p:xfrm>
          <a:off x="8756162" y="4079891"/>
          <a:ext cx="16187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761">
                  <a:extLst>
                    <a:ext uri="{9D8B030D-6E8A-4147-A177-3AD203B41FA5}">
                      <a16:colId xmlns:a16="http://schemas.microsoft.com/office/drawing/2014/main" val="111138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=&gt; (70, 1024)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313244"/>
                  </a:ext>
                </a:extLst>
              </a:tr>
            </a:tbl>
          </a:graphicData>
        </a:graphic>
      </p:graphicFrame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23D2D588-859F-37A1-768A-A4F60595ED6F}"/>
              </a:ext>
            </a:extLst>
          </p:cNvPr>
          <p:cNvSpPr txBox="1">
            <a:spLocks/>
          </p:cNvSpPr>
          <p:nvPr/>
        </p:nvSpPr>
        <p:spPr>
          <a:xfrm>
            <a:off x="8659992" y="4614580"/>
            <a:ext cx="2813969" cy="9797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Faible échantillons / nombreuses </a:t>
            </a:r>
            <a:r>
              <a:rPr lang="fr-FR" dirty="0" err="1"/>
              <a:t>features</a:t>
            </a:r>
            <a:endParaRPr lang="fr-FR" dirty="0"/>
          </a:p>
          <a:p>
            <a:r>
              <a:rPr lang="fr-FR" dirty="0"/>
              <a:t>=&gt; PCA nécessaire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414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285DB-E7BD-00E3-A01C-4C699F5C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Réduction de dimensions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E259EE7-8374-74BE-F8F5-E211C1A1B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238" y="2709985"/>
            <a:ext cx="4583891" cy="2969845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8565BA-47EE-18EC-0B72-E000292F5E52}"/>
              </a:ext>
            </a:extLst>
          </p:cNvPr>
          <p:cNvCxnSpPr>
            <a:cxnSpLocks/>
          </p:cNvCxnSpPr>
          <p:nvPr/>
        </p:nvCxnSpPr>
        <p:spPr>
          <a:xfrm>
            <a:off x="3789485" y="2778369"/>
            <a:ext cx="0" cy="2617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79B9A41E-348E-8579-CF57-58E71BC8E465}"/>
              </a:ext>
            </a:extLst>
          </p:cNvPr>
          <p:cNvSpPr txBox="1"/>
          <p:nvPr/>
        </p:nvSpPr>
        <p:spPr>
          <a:xfrm>
            <a:off x="430037" y="2879457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0.95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1C20907-B522-42F9-C4F1-AC63A2723E1D}"/>
              </a:ext>
            </a:extLst>
          </p:cNvPr>
          <p:cNvSpPr txBox="1"/>
          <p:nvPr/>
        </p:nvSpPr>
        <p:spPr>
          <a:xfrm>
            <a:off x="1670539" y="5748213"/>
            <a:ext cx="3091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F1 Score PCA </a:t>
            </a:r>
            <a:r>
              <a:rPr lang="fr-FR" dirty="0" err="1"/>
              <a:t>mean</a:t>
            </a:r>
            <a:r>
              <a:rPr lang="fr-FR" dirty="0"/>
              <a:t> = 0.528</a:t>
            </a:r>
          </a:p>
          <a:p>
            <a:r>
              <a:rPr lang="fr-FR" dirty="0"/>
              <a:t>F1 Score PCA std = 0.138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CD6E72E-6E15-D845-6D05-BA07373B6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684" y="2405271"/>
            <a:ext cx="4753513" cy="351986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3FEA627-C5C7-CAF2-834B-042CEA4EB0AC}"/>
              </a:ext>
            </a:extLst>
          </p:cNvPr>
          <p:cNvSpPr txBox="1"/>
          <p:nvPr/>
        </p:nvSpPr>
        <p:spPr>
          <a:xfrm>
            <a:off x="5190330" y="3842038"/>
            <a:ext cx="1619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=&gt; Réduction</a:t>
            </a:r>
          </a:p>
          <a:p>
            <a:r>
              <a:rPr lang="fr-FR" dirty="0"/>
              <a:t> à 49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A8485FF-3611-9673-22EF-8B4C84823D68}"/>
              </a:ext>
            </a:extLst>
          </p:cNvPr>
          <p:cNvSpPr txBox="1"/>
          <p:nvPr/>
        </p:nvSpPr>
        <p:spPr>
          <a:xfrm>
            <a:off x="7289125" y="5925134"/>
            <a:ext cx="379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catégories sont bien séparées</a:t>
            </a:r>
          </a:p>
        </p:txBody>
      </p:sp>
    </p:spTree>
    <p:extLst>
      <p:ext uri="{BB962C8B-B14F-4D97-AF65-F5344CB8AC3E}">
        <p14:creationId xmlns:p14="http://schemas.microsoft.com/office/powerpoint/2010/main" val="1936599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796523-F2E4-04E9-1F0C-CD12B75F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du modèle sur le </a:t>
            </a:r>
            <a:r>
              <a:rPr lang="fr-FR" dirty="0" err="1"/>
              <a:t>dataset</a:t>
            </a:r>
            <a:r>
              <a:rPr lang="fr-FR" dirty="0"/>
              <a:t> non labellisé complet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C3A124-CA3F-C07B-E237-37C28ABC0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Récupération des </a:t>
            </a:r>
            <a:r>
              <a:rPr lang="fr-FR" dirty="0" err="1"/>
              <a:t>embeddings</a:t>
            </a:r>
            <a:r>
              <a:rPr lang="fr-FR" dirty="0"/>
              <a:t> (même modèle)</a:t>
            </a:r>
          </a:p>
          <a:p>
            <a:r>
              <a:rPr lang="fr-FR" dirty="0" err="1"/>
              <a:t>Scaler</a:t>
            </a:r>
            <a:r>
              <a:rPr lang="fr-FR" dirty="0"/>
              <a:t>, PCA</a:t>
            </a:r>
          </a:p>
          <a:p>
            <a:r>
              <a:rPr lang="fr-FR" dirty="0"/>
              <a:t>Reg. Log (même modèle) =&gt; 663 images vue top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771E93-5B95-646C-379B-BA73C9934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569" y="3569677"/>
            <a:ext cx="4982948" cy="316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80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55D7CA-04ED-BE77-9B17-D2B9E5B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01" y="484632"/>
            <a:ext cx="10333775" cy="1609344"/>
          </a:xfrm>
        </p:spPr>
        <p:txBody>
          <a:bodyPr/>
          <a:lstStyle/>
          <a:p>
            <a:r>
              <a:rPr lang="fr-FR" dirty="0"/>
              <a:t>Clustering HDBSCAN des images non </a:t>
            </a:r>
            <a:r>
              <a:rPr lang="fr-FR" dirty="0" err="1"/>
              <a:t>labellisees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A0E97-1328-1B96-2163-ECF120947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87" y="6311354"/>
            <a:ext cx="5999167" cy="42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« Normaux » et « cancer » sont assez bien séparés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95EE5B-7062-8BCC-BA55-403E1D137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6" y="2121408"/>
            <a:ext cx="5179307" cy="418994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21C5D1F-35A1-C32F-B3DA-0B72AC07F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654" y="1988810"/>
            <a:ext cx="5011498" cy="432254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81C5CBC-81A1-8E2F-B468-3BAA0246B8E9}"/>
              </a:ext>
            </a:extLst>
          </p:cNvPr>
          <p:cNvSpPr txBox="1"/>
          <p:nvPr/>
        </p:nvSpPr>
        <p:spPr>
          <a:xfrm>
            <a:off x="6530487" y="6301773"/>
            <a:ext cx="4697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Classification HDBSCAN =&gt; ARI = 0,426 </a:t>
            </a:r>
          </a:p>
        </p:txBody>
      </p:sp>
    </p:spTree>
    <p:extLst>
      <p:ext uri="{BB962C8B-B14F-4D97-AF65-F5344CB8AC3E}">
        <p14:creationId xmlns:p14="http://schemas.microsoft.com/office/powerpoint/2010/main" val="1857395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88B70-82A7-8196-7748-BF2D820B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Clustering </a:t>
            </a:r>
            <a:r>
              <a:rPr lang="fr-FR" dirty="0" err="1"/>
              <a:t>KMeans</a:t>
            </a:r>
            <a:r>
              <a:rPr lang="fr-FR" dirty="0"/>
              <a:t> des images non </a:t>
            </a:r>
            <a:r>
              <a:rPr lang="fr-FR" dirty="0" err="1"/>
              <a:t>labellisees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C6CA465-C388-7093-5430-8D9D5B8E6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988" y="2093976"/>
            <a:ext cx="4468879" cy="376050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5D51818-49CD-3955-52C4-EF4C5C634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" y="2045112"/>
            <a:ext cx="4721026" cy="385823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7763C1B-07C7-7846-BC65-20330831B890}"/>
              </a:ext>
            </a:extLst>
          </p:cNvPr>
          <p:cNvSpPr txBox="1"/>
          <p:nvPr/>
        </p:nvSpPr>
        <p:spPr>
          <a:xfrm>
            <a:off x="1069848" y="6050202"/>
            <a:ext cx="10182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 clustering </a:t>
            </a:r>
            <a:r>
              <a:rPr lang="fr-FR" dirty="0" err="1"/>
              <a:t>KMeans</a:t>
            </a:r>
            <a:r>
              <a:rPr lang="fr-FR" dirty="0"/>
              <a:t> retrouve largement la structure des classes avec un ARI de 0,722, ce qui justifie l'utilisation des clusters comme labels faibles pour les données non annotées.</a:t>
            </a:r>
          </a:p>
        </p:txBody>
      </p:sp>
    </p:spTree>
    <p:extLst>
      <p:ext uri="{BB962C8B-B14F-4D97-AF65-F5344CB8AC3E}">
        <p14:creationId xmlns:p14="http://schemas.microsoft.com/office/powerpoint/2010/main" val="31085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71373-7614-BD7C-E7A3-4869AF18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Training des labels faibles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B3A5-5F82-7BE4-D0D4-5D9EDC497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55" y="2121407"/>
            <a:ext cx="5832114" cy="4534369"/>
          </a:xfrm>
        </p:spPr>
        <p:txBody>
          <a:bodyPr/>
          <a:lstStyle/>
          <a:p>
            <a:r>
              <a:rPr lang="fr-FR" dirty="0"/>
              <a:t>split du jeu labellisé (80-20 soit 56 images train et 14 test, 5 </a:t>
            </a:r>
            <a:r>
              <a:rPr lang="fr-FR" dirty="0" err="1"/>
              <a:t>folds</a:t>
            </a:r>
            <a:r>
              <a:rPr lang="fr-FR" dirty="0"/>
              <a:t>)</a:t>
            </a:r>
          </a:p>
          <a:p>
            <a:r>
              <a:rPr lang="fr-FR" dirty="0"/>
              <a:t>training </a:t>
            </a:r>
            <a:r>
              <a:rPr lang="fr-FR" dirty="0" err="1"/>
              <a:t>df</a:t>
            </a:r>
            <a:r>
              <a:rPr lang="fr-FR" dirty="0"/>
              <a:t> labels faibles avec ResNet50</a:t>
            </a:r>
          </a:p>
          <a:p>
            <a:r>
              <a:rPr lang="fr-FR" dirty="0"/>
              <a:t>fine tuning sur labels forts</a:t>
            </a:r>
          </a:p>
          <a:p>
            <a:r>
              <a:rPr lang="fr-FR" dirty="0"/>
              <a:t>Test =&gt; F1 score = 0,889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00EE9864-A87E-023C-2A76-93D952CAC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085003"/>
              </p:ext>
            </p:extLst>
          </p:nvPr>
        </p:nvGraphicFramePr>
        <p:xfrm>
          <a:off x="684091" y="4245023"/>
          <a:ext cx="5268300" cy="1997513"/>
        </p:xfrm>
        <a:graphic>
          <a:graphicData uri="http://schemas.openxmlformats.org/drawingml/2006/table">
            <a:tbl>
              <a:tblPr/>
              <a:tblGrid>
                <a:gridCol w="1053660">
                  <a:extLst>
                    <a:ext uri="{9D8B030D-6E8A-4147-A177-3AD203B41FA5}">
                      <a16:colId xmlns:a16="http://schemas.microsoft.com/office/drawing/2014/main" val="1329814554"/>
                    </a:ext>
                  </a:extLst>
                </a:gridCol>
                <a:gridCol w="1053660">
                  <a:extLst>
                    <a:ext uri="{9D8B030D-6E8A-4147-A177-3AD203B41FA5}">
                      <a16:colId xmlns:a16="http://schemas.microsoft.com/office/drawing/2014/main" val="444881117"/>
                    </a:ext>
                  </a:extLst>
                </a:gridCol>
                <a:gridCol w="1053660">
                  <a:extLst>
                    <a:ext uri="{9D8B030D-6E8A-4147-A177-3AD203B41FA5}">
                      <a16:colId xmlns:a16="http://schemas.microsoft.com/office/drawing/2014/main" val="3083225268"/>
                    </a:ext>
                  </a:extLst>
                </a:gridCol>
                <a:gridCol w="1053660">
                  <a:extLst>
                    <a:ext uri="{9D8B030D-6E8A-4147-A177-3AD203B41FA5}">
                      <a16:colId xmlns:a16="http://schemas.microsoft.com/office/drawing/2014/main" val="1455449490"/>
                    </a:ext>
                  </a:extLst>
                </a:gridCol>
                <a:gridCol w="1053660">
                  <a:extLst>
                    <a:ext uri="{9D8B030D-6E8A-4147-A177-3AD203B41FA5}">
                      <a16:colId xmlns:a16="http://schemas.microsoft.com/office/drawing/2014/main" val="2343791581"/>
                    </a:ext>
                  </a:extLst>
                </a:gridCol>
              </a:tblGrid>
              <a:tr h="285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621287"/>
                  </a:ext>
                </a:extLst>
              </a:tr>
              <a:tr h="2853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786630"/>
                  </a:ext>
                </a:extLst>
              </a:tr>
              <a:tr h="2853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12534"/>
                  </a:ext>
                </a:extLst>
              </a:tr>
              <a:tr h="285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748793"/>
                  </a:ext>
                </a:extLst>
              </a:tr>
              <a:tr h="285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141289"/>
                  </a:ext>
                </a:extLst>
              </a:tr>
              <a:tr h="285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macro avg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29085"/>
                  </a:ext>
                </a:extLst>
              </a:tr>
              <a:tr h="285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weighted avg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362706"/>
                  </a:ext>
                </a:extLst>
              </a:tr>
            </a:tbl>
          </a:graphicData>
        </a:graphic>
      </p:graphicFrame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4B4AD87-0366-4390-5694-CA93C2B51E23}"/>
              </a:ext>
            </a:extLst>
          </p:cNvPr>
          <p:cNvSpPr txBox="1">
            <a:spLocks/>
          </p:cNvSpPr>
          <p:nvPr/>
        </p:nvSpPr>
        <p:spPr>
          <a:xfrm>
            <a:off x="6032627" y="2093976"/>
            <a:ext cx="4862147" cy="2667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entraînement supervisé des images avec labels.</a:t>
            </a:r>
          </a:p>
          <a:p>
            <a:r>
              <a:rPr lang="fr-FR" dirty="0"/>
              <a:t>=&gt; F1 score = 0,889</a:t>
            </a:r>
          </a:p>
        </p:txBody>
      </p:sp>
    </p:spTree>
    <p:extLst>
      <p:ext uri="{BB962C8B-B14F-4D97-AF65-F5344CB8AC3E}">
        <p14:creationId xmlns:p14="http://schemas.microsoft.com/office/powerpoint/2010/main" val="387086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D686D-1128-94DD-1B3F-E166A506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Conclusion – points d’amélioration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D88BC4-3315-7688-EE5D-00D2207C6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 clustering a été réalisé sur l'ensemble des données fortement labellisées afin de maximiser la qualité des pseudo-labels.</a:t>
            </a:r>
          </a:p>
          <a:p>
            <a:r>
              <a:rPr lang="fr-FR" dirty="0"/>
              <a:t>Cette étape n'est pas utilisée directement pour l'évaluation du CNN.</a:t>
            </a:r>
          </a:p>
          <a:p>
            <a:r>
              <a:rPr lang="fr-FR" dirty="0"/>
              <a:t>Le split a été fait uniquement à partir de la semi-supervision et fine tuning sur labels forts.</a:t>
            </a:r>
          </a:p>
          <a:p>
            <a:r>
              <a:rPr lang="fr-FR" dirty="0"/>
              <a:t>La supervision des images labellisées donne le même score</a:t>
            </a:r>
          </a:p>
          <a:p>
            <a:r>
              <a:rPr lang="fr-FR" dirty="0"/>
              <a:t>Donc l'ajout des données faiblement labellisées n'apporte pas d'amélioration mesurable des performances.</a:t>
            </a:r>
          </a:p>
          <a:p>
            <a:endParaRPr lang="fr-FR" dirty="0"/>
          </a:p>
          <a:p>
            <a:r>
              <a:rPr lang="fr-FR" dirty="0"/>
              <a:t>Pour être plus précis il faudrait réaliser les </a:t>
            </a:r>
            <a:r>
              <a:rPr lang="fr-FR" dirty="0" err="1"/>
              <a:t>folds</a:t>
            </a:r>
            <a:r>
              <a:rPr lang="fr-FR" dirty="0"/>
              <a:t> avant le </a:t>
            </a:r>
            <a:r>
              <a:rPr lang="fr-FR" dirty="0" err="1"/>
              <a:t>Kmeans</a:t>
            </a:r>
            <a:endParaRPr lang="fr-FR" dirty="0"/>
          </a:p>
          <a:p>
            <a:r>
              <a:rPr lang="fr-FR" dirty="0"/>
              <a:t>Tenter de modéliser aussi les autres vues (back, </a:t>
            </a:r>
            <a:r>
              <a:rPr lang="fr-FR" dirty="0" err="1"/>
              <a:t>left-side</a:t>
            </a:r>
            <a:r>
              <a:rPr lang="fr-FR" dirty="0"/>
              <a:t>, right-</a:t>
            </a:r>
            <a:r>
              <a:rPr lang="fr-FR" dirty="0" err="1"/>
              <a:t>side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0270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215765-D635-09C1-2A89-F8AF8801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ANNEXES – </a:t>
            </a:r>
            <a:r>
              <a:rPr lang="fr-FR" sz="4400" dirty="0"/>
              <a:t>clustering </a:t>
            </a:r>
            <a:r>
              <a:rPr lang="fr-FR" sz="4400" dirty="0" err="1"/>
              <a:t>labeled</a:t>
            </a:r>
            <a:r>
              <a:rPr lang="fr-FR" sz="4400" dirty="0"/>
              <a:t> / </a:t>
            </a:r>
            <a:r>
              <a:rPr lang="fr-FR" sz="4400" dirty="0" err="1"/>
              <a:t>unLabeled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2CEBDD-E2B5-AB8D-2F56-A0EDCB006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4" y="2695076"/>
            <a:ext cx="5205045" cy="3318862"/>
          </a:xfrm>
          <a:prstGeom prst="rect">
            <a:avLst/>
          </a:prstGeom>
        </p:spPr>
      </p:pic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21A77247-5230-8DBC-7F21-20AE22F66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04332" y="2589937"/>
            <a:ext cx="4523916" cy="347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4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B68CB0-B853-6E5F-B27E-4F5346A9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Clustering optimisation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FC61DF-EB9A-DD24-C909-C881B13BF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241169-3120-17A8-DFF5-0C529B52A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99" y="2762191"/>
            <a:ext cx="4991973" cy="341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706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0</TotalTime>
  <Words>540</Words>
  <Application>Microsoft Office PowerPoint</Application>
  <PresentationFormat>Grand écran</PresentationFormat>
  <Paragraphs>122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Calibri</vt:lpstr>
      <vt:lpstr>Rockwell</vt:lpstr>
      <vt:lpstr>Rockwell Condensed</vt:lpstr>
      <vt:lpstr>Rockwell Extra Bold</vt:lpstr>
      <vt:lpstr>Wingdings</vt:lpstr>
      <vt:lpstr>Type de bois</vt:lpstr>
      <vt:lpstr>Labellisez et appliquez des approches semi-supervisées en traitement d'images</vt:lpstr>
      <vt:lpstr>Objectif et organisation</vt:lpstr>
      <vt:lpstr>1- Explorer les images</vt:lpstr>
      <vt:lpstr>1- Extraire des caractéristiques visuelles</vt:lpstr>
      <vt:lpstr>2- Extraction des embeddings des images labellisées avec REsNet50</vt:lpstr>
      <vt:lpstr>Réduction de dimensions</vt:lpstr>
      <vt:lpstr>Application du modèle sur le dataset non labellisé complet</vt:lpstr>
      <vt:lpstr>Clustering HDBSCAN des images non labellisees</vt:lpstr>
      <vt:lpstr>Clustering KMeans des images non labellisees</vt:lpstr>
      <vt:lpstr>Training des labels faibles</vt:lpstr>
      <vt:lpstr>Conclusion – points d’amélioration</vt:lpstr>
      <vt:lpstr>ANNEXES – clustering labeled / unLabeled</vt:lpstr>
      <vt:lpstr>Clustering optimisation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HOUDIN Emmanuel</dc:creator>
  <cp:lastModifiedBy>Houdin Emmanuel</cp:lastModifiedBy>
  <cp:revision>65</cp:revision>
  <dcterms:created xsi:type="dcterms:W3CDTF">2026-04-21T07:29:18Z</dcterms:created>
  <dcterms:modified xsi:type="dcterms:W3CDTF">2026-07-03T14:16:36Z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8ed5431-0ab7-4c1b-98f4-d4e50f674d02_Enabled">
    <vt:lpwstr>true</vt:lpwstr>
  </property>
  <property fmtid="{D5CDD505-2E9C-101B-9397-08002B2CF9AE}" pid="3" name="MSIP_Label_48ed5431-0ab7-4c1b-98f4-d4e50f674d02_SetDate">
    <vt:lpwstr>2026-04-21T07:36:22Z</vt:lpwstr>
  </property>
  <property fmtid="{D5CDD505-2E9C-101B-9397-08002B2CF9AE}" pid="4" name="MSIP_Label_48ed5431-0ab7-4c1b-98f4-d4e50f674d02_Method">
    <vt:lpwstr>Privileged</vt:lpwstr>
  </property>
  <property fmtid="{D5CDD505-2E9C-101B-9397-08002B2CF9AE}" pid="5" name="MSIP_Label_48ed5431-0ab7-4c1b-98f4-d4e50f674d02_Name">
    <vt:lpwstr>48ed5431-0ab7-4c1b-98f4-d4e50f674d02</vt:lpwstr>
  </property>
  <property fmtid="{D5CDD505-2E9C-101B-9397-08002B2CF9AE}" pid="6" name="MSIP_Label_48ed5431-0ab7-4c1b-98f4-d4e50f674d02_SiteId">
    <vt:lpwstr>614f9c25-bffa-42c7-86d8-964101f55fa2</vt:lpwstr>
  </property>
  <property fmtid="{D5CDD505-2E9C-101B-9397-08002B2CF9AE}" pid="7" name="MSIP_Label_48ed5431-0ab7-4c1b-98f4-d4e50f674d02_ActionId">
    <vt:lpwstr>0ef4bdd9-4815-4340-a95f-56dcd2f6c941</vt:lpwstr>
  </property>
  <property fmtid="{D5CDD505-2E9C-101B-9397-08002B2CF9AE}" pid="8" name="MSIP_Label_48ed5431-0ab7-4c1b-98f4-d4e50f674d02_ContentBits">
    <vt:lpwstr>0</vt:lpwstr>
  </property>
  <property fmtid="{D5CDD505-2E9C-101B-9397-08002B2CF9AE}" pid="9" name="MSIP_Label_48ed5431-0ab7-4c1b-98f4-d4e50f674d02_Tag">
    <vt:lpwstr>50, 0, 1, 1</vt:lpwstr>
  </property>
</Properties>
</file>